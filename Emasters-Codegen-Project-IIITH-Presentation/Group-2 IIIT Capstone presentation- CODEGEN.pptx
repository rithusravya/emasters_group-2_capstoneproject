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8" r:id="rId12"/>
    <p:sldId id="267" r:id="rId13"/>
    <p:sldId id="268" r:id="rId14"/>
    <p:sldId id="269" r:id="rId15"/>
    <p:sldId id="279" r:id="rId16"/>
    <p:sldId id="270" r:id="rId17"/>
    <p:sldId id="277" r:id="rId18"/>
    <p:sldId id="271" r:id="rId19"/>
    <p:sldId id="274" r:id="rId20"/>
    <p:sldId id="276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3D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F1B3D"/>
                </a:solidFill>
                <a:latin typeface="Arial"/>
              </a:rPr>
              <a:t>Baseline vs. Fine-Tuned — Text-to-MongoDB (n = 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(no LoRA)</c:v>
                </c:pt>
              </c:strCache>
            </c:strRef>
          </c:tx>
          <c:spPr>
            <a:solidFill>
              <a:srgbClr val="9AA7B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BLEU</c:v>
                </c:pt>
                <c:pt idx="1">
                  <c:v>CodeBERTScore</c:v>
                </c:pt>
                <c:pt idx="2">
                  <c:v>ROUGE-1</c:v>
                </c:pt>
                <c:pt idx="3">
                  <c:v>ROUGE-L</c:v>
                </c:pt>
                <c:pt idx="4">
                  <c:v>Response
Accuracy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8.0000000000000004E-4</c:v>
                </c:pt>
                <c:pt idx="1">
                  <c:v>0.8004</c:v>
                </c:pt>
                <c:pt idx="2">
                  <c:v>0.25040000000000001</c:v>
                </c:pt>
                <c:pt idx="3">
                  <c:v>0.2263</c:v>
                </c:pt>
                <c:pt idx="4">
                  <c:v>0.32969999999999999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8-45E5-9D05-3E61ACA7B5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 (LoRA)</c:v>
                </c:pt>
              </c:strCache>
            </c:strRef>
          </c:tx>
          <c:spPr>
            <a:solidFill>
              <a:srgbClr val="13AA52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BLEU</c:v>
                </c:pt>
                <c:pt idx="1">
                  <c:v>CodeBERTScore</c:v>
                </c:pt>
                <c:pt idx="2">
                  <c:v>ROUGE-1</c:v>
                </c:pt>
                <c:pt idx="3">
                  <c:v>ROUGE-L</c:v>
                </c:pt>
                <c:pt idx="4">
                  <c:v>Response
Accuracy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0.2019</c:v>
                </c:pt>
                <c:pt idx="1">
                  <c:v>0.88170000000000004</c:v>
                </c:pt>
                <c:pt idx="2">
                  <c:v>0.53600000000000003</c:v>
                </c:pt>
                <c:pt idx="3">
                  <c:v>0.44619999999999999</c:v>
                </c:pt>
                <c:pt idx="4">
                  <c:v>0.76239999999999997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C8-45E5-9D05-3E61ACA7B5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3D"/>
                </a:solidFill>
                <a:latin typeface="Arial"/>
              </a:defRPr>
            </a:pPr>
            <a:r>
              <a:rPr lang="en-US" sz="1250" b="0" i="0" u="none" strike="noStrike" dirty="0">
                <a:solidFill>
                  <a:srgbClr val="0F1B3D"/>
                </a:solidFill>
                <a:latin typeface="Arial"/>
              </a:rPr>
              <a:t>Avg. Generation Latency (</a:t>
            </a:r>
            <a:r>
              <a:rPr lang="en-US" sz="1250" b="0" i="0" u="none" strike="noStrike" dirty="0" err="1">
                <a:solidFill>
                  <a:srgbClr val="0F1B3D"/>
                </a:solidFill>
                <a:latin typeface="Arial"/>
              </a:rPr>
              <a:t>ms</a:t>
            </a:r>
            <a:r>
              <a:rPr lang="en-US" sz="1250" b="0" i="0" u="none" strike="noStrike" dirty="0">
                <a:solidFill>
                  <a:srgbClr val="0F1B3D"/>
                </a:solidFill>
                <a:latin typeface="Arial"/>
              </a:rPr>
              <a:t> / query)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(ms/query)</c:v>
                </c:pt>
              </c:strCache>
            </c:strRef>
          </c:tx>
          <c:spPr>
            <a:solidFill>
              <a:srgbClr val="E2A3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Fine-Tuned (LoRA)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38890.28</c:v>
                </c:pt>
                <c:pt idx="1">
                  <c:v>54060.22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1-4507-A4ED-AC3469AA45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Model</c:v>
                </c:pt>
              </c:strCache>
            </c:strRef>
          </c:tx>
          <c:spPr>
            <a:ln w="28575" cap="flat">
              <a:solidFill>
                <a:srgbClr val="0F1B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F1B3D"/>
              </a:solidFill>
              <a:ln w="9525" cap="flat">
                <a:solidFill>
                  <a:srgbClr val="0F1B3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BLEU</c:v>
                </c:pt>
                <c:pt idx="1">
                  <c:v>ROUGE-1</c:v>
                </c:pt>
                <c:pt idx="2">
                  <c:v>ROUGE-L</c:v>
                </c:pt>
                <c:pt idx="3">
                  <c:v>BERTScore</c:v>
                </c:pt>
                <c:pt idx="4">
                  <c:v>Response
Accuracy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0.22589999999999999</c:v>
                </c:pt>
                <c:pt idx="1">
                  <c:v>0.55979999999999996</c:v>
                </c:pt>
                <c:pt idx="2">
                  <c:v>0.45600000000000002</c:v>
                </c:pt>
                <c:pt idx="3">
                  <c:v>0.87590000000000001</c:v>
                </c:pt>
                <c:pt idx="4">
                  <c:v>0.95199999999999996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54-4E77-A0BC-7B97C4333F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LoRA Model</c:v>
                </c:pt>
              </c:strCache>
            </c:strRef>
          </c:tx>
          <c:spPr>
            <a:ln w="28575" cap="flat">
              <a:solidFill>
                <a:srgbClr val="B97E1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B97E12"/>
              </a:solidFill>
              <a:ln w="9525" cap="flat">
                <a:solidFill>
                  <a:srgbClr val="B97E1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BLEU</c:v>
                </c:pt>
                <c:pt idx="1">
                  <c:v>ROUGE-1</c:v>
                </c:pt>
                <c:pt idx="2">
                  <c:v>ROUGE-L</c:v>
                </c:pt>
                <c:pt idx="3">
                  <c:v>BERTScore</c:v>
                </c:pt>
                <c:pt idx="4">
                  <c:v>Response
Accuracy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0.16539999999999999</c:v>
                </c:pt>
                <c:pt idx="1">
                  <c:v>0.50480000000000003</c:v>
                </c:pt>
                <c:pt idx="2">
                  <c:v>0.4199</c:v>
                </c:pt>
                <c:pt idx="3">
                  <c:v>0.86499999999999999</c:v>
                </c:pt>
                <c:pt idx="4">
                  <c:v>0.95199999999999996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54-4E77-A0BC-7B97C4333FF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RAG Pipeline</c:v>
                </c:pt>
              </c:strCache>
            </c:strRef>
          </c:tx>
          <c:spPr>
            <a:ln w="28575" cap="flat">
              <a:solidFill>
                <a:srgbClr val="D6484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6484F"/>
              </a:solidFill>
              <a:ln w="9525" cap="flat">
                <a:solidFill>
                  <a:srgbClr val="D6484F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BLEU</c:v>
                </c:pt>
                <c:pt idx="1">
                  <c:v>ROUGE-1</c:v>
                </c:pt>
                <c:pt idx="2">
                  <c:v>ROUGE-L</c:v>
                </c:pt>
                <c:pt idx="3">
                  <c:v>BERTScore</c:v>
                </c:pt>
                <c:pt idx="4">
                  <c:v>Response
Accuracy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4.4000000000000003E-3</c:v>
                </c:pt>
                <c:pt idx="1">
                  <c:v>0.24129999999999999</c:v>
                </c:pt>
                <c:pt idx="2">
                  <c:v>0.2329</c:v>
                </c:pt>
                <c:pt idx="3">
                  <c:v>0.76939999999999997</c:v>
                </c:pt>
                <c:pt idx="4">
                  <c:v>0.62929999999999997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54-4E77-A0BC-7B97C4333F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3D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F1B3D"/>
                </a:solidFill>
                <a:latin typeface="Arial"/>
              </a:rPr>
              <a:t>BLEU Gain Over Baseline, by Top-K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 gain vs. baseline</c:v>
                </c:pt>
              </c:strCache>
            </c:strRef>
          </c:tx>
          <c:spPr>
            <a:ln w="31750" cap="flat">
              <a:solidFill>
                <a:srgbClr val="D6484F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D6484F"/>
              </a:solidFill>
              <a:ln w="9525" cap="flat">
                <a:solidFill>
                  <a:srgbClr val="D6484F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AD3038"/>
                    </a:solidFill>
                    <a:latin typeface="Arial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k=1</c:v>
                </c:pt>
                <c:pt idx="1">
                  <c:v>k=2</c:v>
                </c:pt>
                <c:pt idx="2">
                  <c:v>k=3</c:v>
                </c:pt>
                <c:pt idx="3">
                  <c:v>k=5</c:v>
                </c:pt>
                <c:pt idx="4">
                  <c:v>k=8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-0.20430000000000001</c:v>
                </c:pt>
                <c:pt idx="1">
                  <c:v>-0.2019</c:v>
                </c:pt>
                <c:pt idx="2">
                  <c:v>-0.2077</c:v>
                </c:pt>
                <c:pt idx="3">
                  <c:v>-0.2044</c:v>
                </c:pt>
                <c:pt idx="4">
                  <c:v>-0.20330000000000001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B1-4169-AFAC-6B52231D63EC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0.24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94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943600" cy="5943600"/>
          </a:xfrm>
          <a:prstGeom prst="ellipse">
            <a:avLst/>
          </a:prstGeom>
          <a:solidFill>
            <a:srgbClr val="16264A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5212080"/>
            <a:ext cx="3840480" cy="3840480"/>
          </a:xfrm>
          <a:prstGeom prst="ellipse">
            <a:avLst/>
          </a:prstGeom>
          <a:solidFill>
            <a:srgbClr val="1F3164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62179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E2A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E-MASTERS PROGRAMME IN COMPUTER SCIENCE: AI &amp; ML   ·   IIIT HYDERABAD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1207008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58368" y="2248877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Retrieval + LoRA Fine-Tuning</a:t>
            </a:r>
            <a:endParaRPr lang="en-US" sz="16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Code LLM</a:t>
            </a:r>
            <a:endParaRPr lang="en-US" sz="16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A94A3E-ABA5-2CF1-4F27-06F582E88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657" y="294828"/>
            <a:ext cx="2865368" cy="5105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E33399A-37FD-AD85-5472-68CC113FCA63}"/>
              </a:ext>
            </a:extLst>
          </p:cNvPr>
          <p:cNvSpPr txBox="1"/>
          <p:nvPr/>
        </p:nvSpPr>
        <p:spPr>
          <a:xfrm>
            <a:off x="685800" y="3632886"/>
            <a:ext cx="8153400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Team Members(Group 2)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N Anjan Karthik Chandra</a:t>
            </a: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Jakka </a:t>
            </a:r>
            <a:r>
              <a:rPr lang="en-IN" sz="1400" dirty="0" err="1">
                <a:solidFill>
                  <a:schemeClr val="bg1"/>
                </a:solidFill>
              </a:rPr>
              <a:t>Rithusravya</a:t>
            </a:r>
            <a:endParaRPr lang="en-IN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sz="1400" dirty="0">
                <a:solidFill>
                  <a:schemeClr val="bg1"/>
                </a:solidFill>
              </a:rPr>
              <a:t>Darshna Kumawat</a:t>
            </a:r>
            <a:br>
              <a:rPr lang="en-IN" sz="1400" dirty="0">
                <a:solidFill>
                  <a:schemeClr val="bg1"/>
                </a:solidFill>
              </a:rPr>
            </a:br>
            <a:endParaRPr lang="en-IN" sz="1400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Mentor</a:t>
            </a:r>
          </a:p>
          <a:p>
            <a:pPr>
              <a:buNone/>
            </a:pPr>
            <a:r>
              <a:rPr lang="en-IN" sz="1500" dirty="0">
                <a:solidFill>
                  <a:schemeClr val="bg1"/>
                </a:solidFill>
              </a:rPr>
              <a:t>Mr. Sajid Ansari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4415" cy="3566160"/>
          </a:xfrm>
          <a:prstGeom prst="roundRect">
            <a:avLst>
              <a:gd name="adj" fmla="val 2308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1054577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Natural-language-to-query interfaces are well studied for relational SQL — the Spider benchmark alone underlies hundreds of published systems — but equivalent tooling for MongoDB's document-oriented Query Language (MQL) is nascent: dedicated datasets and frameworks (TEND, Spider, EvoMQL) appeared only in 2025–2026. This project converts Spider into 1,114 natural-language-to-MQL pairs spanning 19 databases and builds a compact pipeline around Qwen2.5-Coder-0.5B-Instruct, combining LoRA fine-tuning (r=16, α=32, full attention + MLP) with a hybrid retriever that fuses dense semantic search (FAISS + BAAI/bge-small-en-v1.5) with structural, MQL-aware feature matching. Evaluated with BLEU, ROUGE, CodeBERTScore, and a token-overlap Response Accuracy metric on a 100-sample held-out set, LoRA fine-tuning alone raises Response Accuracy from 33% to 76% and improves every metric measured, at a cost of roughly 39% additional GPU latency. Retrieval augmentation, evaluated separately across five top-k settings, reduces every metric relative to the fine-tuned baseline — a negative result reported in full rather than omitted. The work contributes a reproducible Spider-to-MQL pipeline, a hybrid semantic/structural retriever tailored to MQL syntax, and an empirical account of where fine-tuning and retrieval each help — and where they don't — for small, open code language models.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2567864" cy="777240"/>
          </a:xfrm>
          <a:prstGeom prst="roundRect">
            <a:avLst>
              <a:gd name="adj" fmla="val 10588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548640" y="5559552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238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→ MQL pairs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90824" y="5486400"/>
            <a:ext cx="2567864" cy="777240"/>
          </a:xfrm>
          <a:prstGeom prst="roundRect">
            <a:avLst>
              <a:gd name="adj" fmla="val 10588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390824" y="5559552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→ 76%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482264" y="5943600"/>
            <a:ext cx="238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Accuracy (LoRA)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33008" y="5486400"/>
            <a:ext cx="2567864" cy="777240"/>
          </a:xfrm>
          <a:prstGeom prst="roundRect">
            <a:avLst>
              <a:gd name="adj" fmla="val 10588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33008" y="5559552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net negative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24448" y="5943600"/>
            <a:ext cx="238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metric tested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9075191" y="5486400"/>
            <a:ext cx="2567864" cy="777240"/>
          </a:xfrm>
          <a:prstGeom prst="roundRect">
            <a:avLst>
              <a:gd name="adj" fmla="val 10588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9075191" y="5559552"/>
            <a:ext cx="256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A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166631" y="5943600"/>
            <a:ext cx="23849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latency from LoRA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D5A58D-5254-C3E9-9853-4E35150FB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4440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15568" y="1709928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359152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48640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15568" y="23317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Spider → MongoDB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2980944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48640" y="2971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15568" y="2953512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3602736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48640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575304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48640" y="42153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15568" y="4197096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Design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548640" y="4837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5568" y="4818888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Fine-Tuning Setup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355080" y="1737360"/>
            <a:ext cx="402336" cy="402336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635508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22008" y="1709928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355080" y="2359152"/>
            <a:ext cx="402336" cy="402336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6355080" y="23500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22008" y="2331720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Findings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355080" y="2980944"/>
            <a:ext cx="402336" cy="402336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355080" y="2971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22008" y="2953512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Capabilities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6355080" y="3602736"/>
            <a:ext cx="402336" cy="402336"/>
          </a:xfrm>
          <a:prstGeom prst="ellipse">
            <a:avLst/>
          </a:prstGeom>
          <a:solidFill>
            <a:srgbClr val="AD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6355080" y="3593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922008" y="3522159"/>
            <a:ext cx="4636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3B262CB-47B7-2E9D-4BC9-9D626C58A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05802"/>
              </p:ext>
            </p:extLst>
          </p:nvPr>
        </p:nvGraphicFramePr>
        <p:xfrm>
          <a:off x="548640" y="1691640"/>
          <a:ext cx="11094415" cy="3803904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Work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Here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Text-to-SQL foundations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(Yu et al., EMNLP 2018)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benchmark this project's MQL dataset is derived from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RAG(Lewis et al., NeurIPS 2020)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few-shot MQL exemplars instead of text passages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Parameter-efficient fine-tuning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(Hu et al., ICLR 2022)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used to specialize Qwen2.5-Coder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Code-aware evaluation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CodeBERT</a:t>
                      </a: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(Feng et al., EMNLP-Findings 2020)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for the CodeBERTScore metric used here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Text-to-NoSQL (2025)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 / </a:t>
                      </a:r>
                      <a:r>
                        <a:rPr lang="en-US" sz="108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; </a:t>
                      </a:r>
                      <a:r>
                        <a:rPr lang="en-US" sz="108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MultiTEND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systems: fine-tuned small LM + RAG for NL→NoSQL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MongoDB-specific benchmark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(Özer et al., 2025)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Spider-style cross-domain dataset for MongoDB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 → MQL generation (2026)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EvoMQL</a:t>
                      </a: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(Ye et al.)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prior NL→MQL method — 3B model, self-evolving refinement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62356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E3F5EA"/>
          </a:solidFill>
          <a:ln w="12700">
            <a:solidFill>
              <a:srgbClr val="E3F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749808" y="5838444"/>
            <a:ext cx="347472" cy="347472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749808" y="58293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5715000"/>
            <a:ext cx="102257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unlike TEND/SMART and EvoMQL, this project derives its benchmark directly from Spider, uses a sub-1B open model, and separately ablates hybrid retrieval against LoRA fine-tuning to isolate which component actually helps.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9D3BBB-F7E3-8B2E-18FB-A436FEF47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Spider, Converted to MongoDB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548640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23134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/ MQL pairs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70632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2770632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70632" y="23134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databases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92624" y="169164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992624" y="176479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992624" y="23134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record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60336" y="1691640"/>
            <a:ext cx="4382719" cy="1051560"/>
          </a:xfrm>
          <a:prstGeom prst="roundRect">
            <a:avLst>
              <a:gd name="adj" fmla="val 7826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443216" y="1801368"/>
            <a:ext cx="401695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question, database_id, generated_mongodb_query }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via DatasetLoader → flattened for LoRA training &amp; retrieval indexing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3017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RECORDS (database_id: concert_singer)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337560"/>
            <a:ext cx="6720840" cy="777240"/>
          </a:xfrm>
          <a:prstGeom prst="roundRect">
            <a:avLst>
              <a:gd name="adj" fmla="val 10588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31520" y="3410712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name, country, age for all singers, oldest to youngest.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db.singer.find({}, {Name:1,Country:1,Age:1,_id:0}).sort({Age:-1})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251960"/>
            <a:ext cx="6720840" cy="1124712"/>
          </a:xfrm>
          <a:prstGeom prst="roundRect">
            <a:avLst>
              <a:gd name="adj" fmla="val 10588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31520" y="4325112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average, minimum, and maximum age of singers from France?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r>
              <a:rPr lang="en-US" sz="1050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db.singer.aggregate([{$match:{Country:"France"}},{$group:{_id:null,avg_age:{$avg:"$Age"},...}}])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406640" y="301752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DATABASES BY SAMPLE COUNT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3337560"/>
          <a:ext cx="4297680" cy="217627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wta_1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car_1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cre_Doc_Template_Mgt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dog_kennels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flight_2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749808" y="60899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9616805-229A-0B4B-42D3-39F028F4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Technology Stack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616433"/>
              </p:ext>
            </p:extLst>
          </p:nvPr>
        </p:nvGraphicFramePr>
        <p:xfrm>
          <a:off x="556661" y="1691640"/>
          <a:ext cx="11094415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generator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Qwen2.5-Coder-0.5B-Instruct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PEFT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r=16, α=32, on attention + MLP projections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BAAI/bge-small-en-v1.5 (dense, L2-normalized)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IndexFlatIP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exact inner-product / cosine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AST-style feature index (collection + operator features)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normalized score fusion — semantic / structural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microsoft/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-base  (local checkpoint) for CodeBERTScore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· ROUGE-1/L  · CodeBERTScore · Response Accuracy · 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notebooks: main · baseline_model · finetuned_model · spider_evaluation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9808" y="59344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D979F12-DDA2-A2A2-25EA-E9832FC36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816352" y="128016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Index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+ bge-small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ADD5BE29-4092-FF04-0BC0-A96FFDB82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C4AE42B-BAA2-31D9-A402-9AB6BBD02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68" y="940352"/>
            <a:ext cx="10972958" cy="5486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Design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318608" cy="2514600"/>
          </a:xfrm>
          <a:prstGeom prst="roundRect">
            <a:avLst>
              <a:gd name="adj" fmla="val 3273"/>
            </a:avLst>
          </a:prstGeom>
          <a:solidFill>
            <a:srgbClr val="E3F5E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965960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path (dense)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468880"/>
            <a:ext cx="48614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query with BAAI/bge-small-en-v1.5, L2-normalized.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FAISS IndexFlatIP (exact inner product = cosine) for the top 2×k nearest question/query pairs.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intent — “how many…”, “average of…” — even across different wordings.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24448" y="1737360"/>
            <a:ext cx="5318608" cy="2514600"/>
          </a:xfrm>
          <a:prstGeom prst="roundRect">
            <a:avLst>
              <a:gd name="adj" fmla="val 3273"/>
            </a:avLst>
          </a:prstGeom>
          <a:solidFill>
            <a:srgbClr val="FBF0DD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6553048" y="1965960"/>
            <a:ext cx="384048" cy="384048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553048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01688" y="1965960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path (AST-style)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53048" y="2468880"/>
            <a:ext cx="48614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feature extraction over MQL: collection:&lt;name&gt;, op:&lt;find|aggregate|match|group…&gt;.</a:t>
            </a:r>
            <a:endParaRPr lang="en-US" sz="1250" dirty="0"/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indexed in an inverted index for fast structural lookup.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query shape — an aggregate pipeline retrieves other aggregate pipelines.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43484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16264A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48640" y="45628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score(doc) = 0.3  × norm(semantic_score)  +  0.7 × norm(structural_score)</a:t>
            </a:r>
            <a:endParaRPr lang="en-US" sz="155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9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min-max normalized independently per query, top-k re-ranked from the merged pool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548640" y="5577840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49808" y="5701284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49808" y="56921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5669280"/>
            <a:ext cx="10225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Dense embeddings match meaning; structural features match MQL shape — combining both retrieves examples aligned on intent and syntax.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85792C3-D974-6021-D367-68729263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Setup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852160" cy="31272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(r)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q/k/v/o_proj, gate/up/down_proj (full attn + MLP)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fraction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of LoRA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75120" y="1737360"/>
            <a:ext cx="4967935" cy="3383280"/>
          </a:xfrm>
          <a:prstGeom prst="roundRect">
            <a:avLst>
              <a:gd name="adj" fmla="val 2432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6903720" y="1920240"/>
            <a:ext cx="4510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LM LOSS MASKING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903720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7279615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7655509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8031404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8407298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783193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9159088" y="2423160"/>
            <a:ext cx="348463" cy="365760"/>
          </a:xfrm>
          <a:prstGeom prst="rect">
            <a:avLst/>
          </a:prstGeom>
          <a:solidFill>
            <a:srgbClr val="C9D2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9534982" y="2423160"/>
            <a:ext cx="348463" cy="365760"/>
          </a:xfrm>
          <a:prstGeom prst="rect">
            <a:avLst/>
          </a:prstGeom>
          <a:solidFill>
            <a:srgbClr val="13AA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9910877" y="2423160"/>
            <a:ext cx="348463" cy="365760"/>
          </a:xfrm>
          <a:prstGeom prst="rect">
            <a:avLst/>
          </a:prstGeom>
          <a:solidFill>
            <a:srgbClr val="13AA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10286771" y="2423160"/>
            <a:ext cx="348463" cy="365760"/>
          </a:xfrm>
          <a:prstGeom prst="rect">
            <a:avLst/>
          </a:prstGeom>
          <a:solidFill>
            <a:srgbClr val="13AA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10662666" y="2423160"/>
            <a:ext cx="348463" cy="365760"/>
          </a:xfrm>
          <a:prstGeom prst="rect">
            <a:avLst/>
          </a:prstGeom>
          <a:solidFill>
            <a:srgbClr val="13AA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11038561" y="2423160"/>
            <a:ext cx="348463" cy="365760"/>
          </a:xfrm>
          <a:prstGeom prst="rect">
            <a:avLst/>
          </a:prstGeom>
          <a:solidFill>
            <a:srgbClr val="13AA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6903720" y="2880360"/>
            <a:ext cx="270644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tokens — label = −100 (ignored)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519946" y="2880360"/>
            <a:ext cx="189450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tokens (MQL) — loss computed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903720" y="3566160"/>
            <a:ext cx="451073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Task: Generate MongoDB Query (MQL)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Question: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{question}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MongoDB Query: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E7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db.collection.find(…)  ← loss here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48640" y="5349240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E3F5EA"/>
          </a:solidFill>
          <a:ln w="12700">
            <a:solidFill>
              <a:srgbClr val="E3F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749808" y="5486400"/>
            <a:ext cx="347472" cy="347472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3"/>
          <p:cNvSpPr/>
          <p:nvPr/>
        </p:nvSpPr>
        <p:spPr>
          <a:xfrm>
            <a:off x="749808" y="5477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1234440" y="5440680"/>
            <a:ext cx="10225735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single-epoch LoRA pass adapts a 0.5B-parameter code model to MQL syntax across all 1,114 examples — loss is computed only on the query completion.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5C0DBCE-B216-E7AF-FE6F-ABFDE42D8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Quality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02492"/>
              </p:ext>
            </p:extLst>
          </p:nvPr>
        </p:nvGraphicFramePr>
        <p:xfrm>
          <a:off x="548640" y="1737360"/>
          <a:ext cx="11091672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n-gram precision vs. gold MQL (smoothed, corpus-level)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Tokenized on MQL punctuation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 / ROUGE-L 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Unigram / longest-common-subsequence overlap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F-measure, stemmed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CodeBERTScore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similarity via local CodeBERT embeddings (BERTScore F1)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fixing a silent num_layers bug that zeroed every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Token-overlap recall: |gold ∩ pred| / |gold|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Lenient — not execution-based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ms per generated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end-to-end, 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49808" y="55549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74856B-19EC-D61C-5ED5-029CB91E3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100-SAMPLE 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102470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Metrics : Baseline &amp; Fine-tuned (LoRa)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74856B-19EC-D61C-5ED5-029CB91E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graphicFrame>
        <p:nvGraphicFramePr>
          <p:cNvPr id="18" name="Table Generated Merged"/>
          <p:cNvGraphicFramePr>
            <a:graphicFrameLocks noGrp="1"/>
          </p:cNvGraphicFramePr>
          <p:nvPr/>
        </p:nvGraphicFramePr>
        <p:xfrm>
          <a:off x="548640" y="2150000"/>
          <a:ext cx="11091672" cy="1800000"/>
        </p:xfrm>
        <a:graphic>
          <a:graphicData uri="http://schemas.openxmlformats.org/drawingml/2006/table">
            <a:tbl>
              <a:tblPr firstRow="1" bandRow="1"/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19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1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BLEU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CodeBERTScore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ROUGE-1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ROUGE-L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Response_Accuracy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Avg_Latency_ms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000000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0.0008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0.8004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0.2504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0.2263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0.3297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38890.28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Fine-tuned (LoRA)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0.2019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0.8817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0.5360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0.4462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0.7624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 dirty="0">
                          <a:solidFill>
                            <a:srgbClr val="000000"/>
                          </a:solidFill>
                          <a:latin typeface="Calibri"/>
                        </a:rPr>
                        <a:t>54060.22</a:t>
                      </a:r>
                    </a:p>
                  </a:txBody>
                  <a:tcPr marL="45720" marR="45720" marT="27432" marB="27432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100-SAMPLE 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Impact</a:t>
            </a:r>
            <a:endParaRPr lang="en-US" sz="2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91640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8092440" y="1783080"/>
            <a:ext cx="3550615" cy="123444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8092440" y="1874520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+0.201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229600" y="2496312"/>
            <a:ext cx="3276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(0.001 → 0.202)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092440" y="3200400"/>
            <a:ext cx="3550615" cy="123444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8092440" y="3291840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+0.433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229600" y="3913632"/>
            <a:ext cx="3276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Accuracy (33% → 76%)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4617720"/>
            <a:ext cx="3550615" cy="123444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8092440" y="4709160"/>
            <a:ext cx="35506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n=100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229600" y="5330952"/>
            <a:ext cx="3276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questions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AA4ACC5-E18C-3F46-92AA-9BC883DEF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sp>
        <p:nvSpPr>
          <p:cNvPr id="22" name="Text Table2 Caption"/>
          <p:cNvSpPr txBox="1"/>
          <p:nvPr/>
        </p:nvSpPr>
        <p:spPr>
          <a:xfrm>
            <a:off x="8092440" y="5897880"/>
            <a:ext cx="3550615" cy="2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F1B3D"/>
                </a:solidFill>
                <a:latin typeface="Calibri"/>
              </a:rPr>
              <a:t>EVAL SET SIZE</a:t>
            </a:r>
          </a:p>
        </p:txBody>
      </p:sp>
      <p:graphicFrame>
        <p:nvGraphicFramePr>
          <p:cNvPr id="23" name="Table2 100-Sample"/>
          <p:cNvGraphicFramePr>
            <a:graphicFrameLocks noGrp="1"/>
          </p:cNvGraphicFramePr>
          <p:nvPr/>
        </p:nvGraphicFramePr>
        <p:xfrm>
          <a:off x="8092440" y="6127880"/>
          <a:ext cx="3550615" cy="560000"/>
        </p:xfrm>
        <a:graphic>
          <a:graphicData uri="http://schemas.openxmlformats.org/drawingml/2006/table">
            <a:tbl>
              <a:tblPr firstRow="1" bandRow="1"/>
              <a:tblGrid>
                <a:gridCol w="234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Fine-tuned (LoRA)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97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100-SAMPLE BENCHMARK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Efficiency Trade-off</a:t>
            </a:r>
            <a:endParaRPr lang="en-US" sz="27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41375990"/>
              </p:ext>
            </p:extLst>
          </p:nvPr>
        </p:nvGraphicFramePr>
        <p:xfrm>
          <a:off x="548640" y="1737360"/>
          <a:ext cx="62179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7360920" y="1737360"/>
            <a:ext cx="4282135" cy="1417320"/>
          </a:xfrm>
          <a:prstGeom prst="roundRect">
            <a:avLst>
              <a:gd name="adj" fmla="val 5806"/>
            </a:avLst>
          </a:prstGeom>
          <a:solidFill>
            <a:srgbClr val="FBE8E9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7360920" y="1828800"/>
            <a:ext cx="4282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AD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+39%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7543800" y="2487168"/>
            <a:ext cx="39163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added by LoRA adapters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67C403-799D-85FE-7CB2-B781150F1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AD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D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5-SAMPLE QUICK EVAL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vs. LoRA vs. RAG Pipeline</a:t>
            </a:r>
            <a:endParaRPr lang="en-US" sz="2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600200"/>
          <a:ext cx="5577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861695"/>
              </p:ext>
            </p:extLst>
          </p:nvPr>
        </p:nvGraphicFramePr>
        <p:xfrm>
          <a:off x="6248400" y="1629918"/>
          <a:ext cx="5486400" cy="1536192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Resp.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AD30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720840" y="3429000"/>
            <a:ext cx="4922215" cy="1417320"/>
          </a:xfrm>
          <a:prstGeom prst="roundRect">
            <a:avLst>
              <a:gd name="adj" fmla="val 5806"/>
            </a:avLst>
          </a:prstGeom>
          <a:solidFill>
            <a:srgbClr val="FBE8E9"/>
          </a:solidFill>
          <a:ln w="12700">
            <a:solidFill>
              <a:srgbClr val="FBE8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5"/>
          <p:cNvSpPr/>
          <p:nvPr/>
        </p:nvSpPr>
        <p:spPr>
          <a:xfrm>
            <a:off x="6922008" y="3963924"/>
            <a:ext cx="347472" cy="347472"/>
          </a:xfrm>
          <a:prstGeom prst="ellipse">
            <a:avLst/>
          </a:prstGeom>
          <a:solidFill>
            <a:srgbClr val="AD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6"/>
          <p:cNvSpPr/>
          <p:nvPr/>
        </p:nvSpPr>
        <p:spPr>
          <a:xfrm>
            <a:off x="6922008" y="39547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406640" y="3520440"/>
            <a:ext cx="405353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evaluation, adding retrieval hurts every single metric — RAG_Pipeline scores lowest on BLEU, ROUGE, BERTScore, and Response Accuracy, and is also the slowest of the three (33.9s vs. 20–25s).</a:t>
            </a:r>
            <a:endParaRPr lang="en-US" sz="1250" dirty="0"/>
          </a:p>
        </p:txBody>
      </p:sp>
      <p:sp>
        <p:nvSpPr>
          <p:cNvPr id="8" name="Text 10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9850D3-4FBB-0561-5565-7617272C0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sp>
        <p:nvSpPr>
          <p:cNvPr id="19" name="Text Table1 Caption"/>
          <p:cNvSpPr txBox="1"/>
          <p:nvPr/>
        </p:nvSpPr>
        <p:spPr>
          <a:xfrm>
            <a:off x="6248400" y="4906320"/>
            <a:ext cx="5486400" cy="2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F1B3D"/>
                </a:solidFill>
                <a:latin typeface="Calibri"/>
              </a:rPr>
              <a:t>RAG PIPELINE — 5-SAMPLE RUNS</a:t>
            </a:r>
          </a:p>
        </p:txBody>
      </p:sp>
      <p:graphicFrame>
        <p:nvGraphicFramePr>
          <p:cNvPr id="20" name="Table1 RAG Runs"/>
          <p:cNvGraphicFramePr>
            <a:graphicFrameLocks noGrp="1"/>
          </p:cNvGraphicFramePr>
          <p:nvPr/>
        </p:nvGraphicFramePr>
        <p:xfrm>
          <a:off x="6248400" y="5136320"/>
          <a:ext cx="5486400" cy="1280000"/>
        </p:xfrm>
        <a:graphic>
          <a:graphicData uri="http://schemas.openxmlformats.org/drawingml/2006/table">
            <a:tbl>
              <a:tblPr/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Comparison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RAG Pipeline vs. Baseline (Base Model)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RAG Pipeline vs. Fine-tuned (LoRA)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Fine-tuned (LoRA), without RAG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Analysis — Base, Fine-Tuned &amp; RAG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74856B-19EC-D61C-5ED5-029CB91E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763DE4-24E3-B9DC-351A-B9A911AF8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08" y="2069433"/>
            <a:ext cx="11378076" cy="27512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444B48-9F70-094B-0C83-C67EFB3E8BDA}"/>
              </a:ext>
            </a:extLst>
          </p:cNvPr>
          <p:cNvSpPr txBox="1"/>
          <p:nvPr/>
        </p:nvSpPr>
        <p:spPr>
          <a:xfrm>
            <a:off x="2125578" y="1668938"/>
            <a:ext cx="15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Base Model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74AD5-7051-CE0C-45B6-1243E8FE6366}"/>
              </a:ext>
            </a:extLst>
          </p:cNvPr>
          <p:cNvSpPr txBox="1"/>
          <p:nvPr/>
        </p:nvSpPr>
        <p:spPr>
          <a:xfrm>
            <a:off x="8061158" y="1672669"/>
            <a:ext cx="2734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Fine Tuned(LoRa Model)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AD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AD3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Top-K Sweep</a:t>
            </a:r>
            <a:endParaRPr lang="en-US" sz="2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91640"/>
          <a:ext cx="63093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7498080" y="4069080"/>
            <a:ext cx="41449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top_k by BLEU gain: k = 2 — but “best” still means “least harmful.” No k tested turns the gain positive.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48640" y="557784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BE8E9"/>
          </a:solidFill>
          <a:ln w="12700">
            <a:solidFill>
              <a:srgbClr val="FBE8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6"/>
          <p:cNvSpPr/>
          <p:nvPr/>
        </p:nvSpPr>
        <p:spPr>
          <a:xfrm>
            <a:off x="749808" y="5838444"/>
            <a:ext cx="347472" cy="347472"/>
          </a:xfrm>
          <a:prstGeom prst="ellipse">
            <a:avLst/>
          </a:prstGeom>
          <a:solidFill>
            <a:srgbClr val="AD303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7"/>
          <p:cNvSpPr/>
          <p:nvPr/>
        </p:nvSpPr>
        <p:spPr>
          <a:xfrm>
            <a:off x="749808" y="58293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234440" y="5669280"/>
            <a:ext cx="1022573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retrieved few-shot examples add prompt-format drift for a model already specialized by LoRA on this exact distribution — retrieval competes with fine-tuning rather than complementing it. Measured on only 5 questions, so treat magnitudes as directional.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8" name="Shap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5575E2D-44F5-FDBB-DFAE-79E95FEE2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graphicFrame>
        <p:nvGraphicFramePr>
          <p:cNvPr id="18" name="Table TopK Sweep Full"/>
          <p:cNvGraphicFramePr>
            <a:graphicFrameLocks noGrp="1"/>
          </p:cNvGraphicFramePr>
          <p:nvPr/>
        </p:nvGraphicFramePr>
        <p:xfrm>
          <a:off x="7498080" y="1691640"/>
          <a:ext cx="4144975" cy="2194560"/>
        </p:xfrm>
        <a:graphic>
          <a:graphicData uri="http://schemas.openxmlformats.org/drawingml/2006/table">
            <a:tbl>
              <a:tblPr firstRow="1" bandRow="1"/>
              <a:tblGrid>
                <a:gridCol w="7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Top-K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BLEU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ROUGE-1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BLEU Δ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ROUGE-1 Δ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0.0057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0.2694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−0.204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−0.230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2 (best)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0.0081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0.2468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−0.202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Calibri"/>
                        </a:rPr>
                        <a:t>−0.253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0.0023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0.1864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−0.208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−0.313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0.0056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0.1802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−0.204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−0.319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0.0067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0.2089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−0.203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Calibri"/>
                        </a:rPr>
                        <a:t>−0.291</a:t>
                      </a:r>
                    </a:p>
                  </a:txBody>
                  <a:tcPr marL="45720" marR="45720" marT="9144" marB="9144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QUALITATIVE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Model Actually Generates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74856B-19EC-D61C-5ED5-029CB91E3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  <p:graphicFrame>
        <p:nvGraphicFramePr>
          <p:cNvPr id="17" name="Table Qualitative Examples"/>
          <p:cNvGraphicFramePr>
            <a:graphicFrameLocks noGrp="1"/>
          </p:cNvGraphicFramePr>
          <p:nvPr/>
        </p:nvGraphicFramePr>
        <p:xfrm>
          <a:off x="548640" y="1737360"/>
          <a:ext cx="11091672" cy="3850000"/>
        </p:xfrm>
        <a:graphic>
          <a:graphicData uri="http://schemas.openxmlformats.org/drawingml/2006/table">
            <a:tbl>
              <a:tblPr firstRow="1" bandRow="1"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Reference (gold)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LoRA (fine-tuned)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RAG Pipeline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B6472"/>
                          </a:solidFill>
                          <a:latin typeface="Calibri"/>
                        </a:rPr>
                        <a:t>How many singers do we have?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db.singer.countDocuments()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db.actors.countDocuments()db.singer.aggregate([{$group:{_id:"count"}}, {$project…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db.actors.countDocuments()db.singer.aggregate([{$group:{_id:"count"}}, {$project…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db.actors.aggregate([{$group: {_id: "$Singer_ID"}}, {$count: "count"}])SELECT co…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B6472"/>
                          </a:solidFill>
                          <a:latin typeface="Calibri"/>
                        </a:rPr>
                        <a:t>What is the total number of singers?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db.singer.countDocuments()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db.actors.countDocuments()db.singer.aggregate([{$group:{_id:"count"}}, {$sum:_id…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db.actors.countDocuments()db.singer.aggregate([{$group: {_id: null, count: {$sum…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db.actors.aggregate([{$group: {_id: null}}, {$count: "sum"}]) # $group to aggreg…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0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5B6472"/>
                          </a:solidFill>
                          <a:latin typeface="Calibri"/>
                        </a:rPr>
                        <a:t>Show name, country, age for all singers ordered by age from the oldest to the yo…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db.singer.find({}, {Name:1, Country:1, Age:1, _id:0}).sort({Age:-1})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db.actors.find({}, {Name:1, Country:0, Age:-1}).sort({Age:-2})db.singer.aggr…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db.actors.find({}, {Name:1, Country:2, Age:3}).sort({Age:-1})db.singer.aggre…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6264A"/>
                          </a:solidFill>
                          <a:latin typeface="Consolas"/>
                        </a:rPr>
                        <a:t>db.averageround.aggregate([{"$addFields": {"sum_age": {$sum: "$age"}}},{"$divide…</a:t>
                      </a:r>
                    </a:p>
                  </a:txBody>
                  <a:tcPr marL="54864" marR="54864" marT="36576" marB="36576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QualTakeawayBar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QUERY GENERATION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88720" y="658368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Capabilities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384048" cy="384048"/>
          </a:xfrm>
          <a:prstGeom prst="ellipse">
            <a:avLst/>
          </a:prstGeom>
          <a:solidFill>
            <a:srgbClr val="0E7C3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77240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1965960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Generation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468880"/>
            <a:ext cx="486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5-shot prompted DocGenerator turns a code snippet into a natural-language docstring.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154680"/>
            <a:ext cx="4861408" cy="2331720"/>
          </a:xfrm>
          <a:prstGeom prst="roundRect">
            <a:avLst>
              <a:gd name="adj" fmla="val 3137"/>
            </a:avLst>
          </a:prstGeom>
          <a:solidFill>
            <a:srgbClr val="16264A"/>
          </a:solidFill>
          <a:ln w="12700">
            <a:solidFill>
              <a:srgbClr val="13AA52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941832" y="3264408"/>
            <a:ext cx="453222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calculate_area(radius):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E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3.14159 * radius ** 2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“Calculates the area of a circle</a:t>
            </a:r>
            <a:endParaRPr lang="en-US" sz="12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3A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given its radius.”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24448" y="1737360"/>
            <a:ext cx="5318608" cy="3977640"/>
          </a:xfrm>
          <a:prstGeom prst="roundRect">
            <a:avLst>
              <a:gd name="adj" fmla="val 2069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553048" y="1965960"/>
            <a:ext cx="384048" cy="384048"/>
          </a:xfrm>
          <a:prstGeom prst="ellipse">
            <a:avLst/>
          </a:prstGeom>
          <a:solidFill>
            <a:srgbClr val="B97E1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553048" y="1956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01688" y="1965960"/>
            <a:ext cx="440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Generation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53048" y="2468880"/>
            <a:ext cx="486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CommitMessageGenerator writes conventional commit messages (feat / fix / docs…) directly from a git diff.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53048" y="3154680"/>
            <a:ext cx="4861408" cy="2331720"/>
          </a:xfrm>
          <a:prstGeom prst="roundRect">
            <a:avLst>
              <a:gd name="adj" fmla="val 3137"/>
            </a:avLst>
          </a:prstGeom>
          <a:solidFill>
            <a:srgbClr val="16264A"/>
          </a:solidFill>
          <a:ln w="12700">
            <a:solidFill>
              <a:srgbClr val="13AA52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717640" y="3264408"/>
            <a:ext cx="4532224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B2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--git a/auth.py b/auth.py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def refresh_token(user):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7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…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A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“feat: add token refresh</a:t>
            </a:r>
            <a:endParaRPr lang="en-US" sz="11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2A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handling for auth flow”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5943600"/>
            <a:ext cx="11094415" cy="594360"/>
          </a:xfrm>
          <a:prstGeom prst="roundRect">
            <a:avLst>
              <a:gd name="adj" fmla="val 13846"/>
            </a:avLst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749808" y="6067044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49808" y="60579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34440" y="6035040"/>
            <a:ext cx="102257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GenerationPipeline is reused across tasks — only the prompt template changes — showing the fine-tuned adapter's utility isn't limited to MQL generation.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70A1CB1-B2AC-618F-A84B-2716F431E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4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976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THANKS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87013" y="674370"/>
            <a:ext cx="9326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49808" y="19613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0727" y="1892808"/>
            <a:ext cx="11094415" cy="704088"/>
          </a:xfrm>
          <a:prstGeom prst="roundRect">
            <a:avLst>
              <a:gd name="adj" fmla="val 11688"/>
            </a:avLst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21895" y="2080260"/>
            <a:ext cx="329184" cy="329184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21895" y="20711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206527" y="196596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Sajid Ansari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35527" y="1965960"/>
            <a:ext cx="6796735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Mentor — for technical mentorship on the RAG and fine-tuning design.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0727" y="2761488"/>
            <a:ext cx="11094415" cy="704088"/>
          </a:xfrm>
          <a:prstGeom prst="roundRect">
            <a:avLst>
              <a:gd name="adj" fmla="val 11688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21895" y="2948940"/>
            <a:ext cx="329184" cy="329184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21895" y="29397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06527" y="283464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IIIT Hyderabad &amp; NSE TalentSprint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35527" y="2834640"/>
            <a:ext cx="6796735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E-Masters program structure, curriculum, and computing resources.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20727" y="3630168"/>
            <a:ext cx="11094415" cy="704088"/>
          </a:xfrm>
          <a:prstGeom prst="roundRect">
            <a:avLst>
              <a:gd name="adj" fmla="val 11688"/>
            </a:avLst>
          </a:prstGeom>
          <a:solidFill>
            <a:srgbClr val="EFF3F8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721895" y="3817620"/>
            <a:ext cx="329184" cy="329184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21895" y="38084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06527" y="370332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&amp; dataset providers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635527" y="3703320"/>
            <a:ext cx="6796735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(Yu et al.), Qwen Team, HuggingFace PEFT/Transformers, FAISS, and BAAI (BGE embeddings) — the tooling this project builds on.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20727" y="4498848"/>
            <a:ext cx="11094415" cy="704088"/>
          </a:xfrm>
          <a:prstGeom prst="roundRect">
            <a:avLst>
              <a:gd name="adj" fmla="val 11688"/>
            </a:avLst>
          </a:prstGeom>
          <a:solidFill>
            <a:srgbClr val="F6F8FB"/>
          </a:solidFill>
          <a:ln w="12700">
            <a:solidFill>
              <a:srgbClr val="DCE3EC"/>
            </a:solidFill>
            <a:prstDash val="solid"/>
          </a:ln>
          <a:effectLst>
            <a:outerShdw blurRad="63500" dist="25400" dir="5400000" algn="bl" rotWithShape="0">
              <a:srgbClr val="0F1B3D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721895" y="4686300"/>
            <a:ext cx="329184" cy="329184"/>
          </a:xfrm>
          <a:prstGeom prst="ellipse">
            <a:avLst/>
          </a:prstGeom>
          <a:solidFill>
            <a:srgbClr val="0F1B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721895" y="46771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♦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206527" y="4572000"/>
            <a:ext cx="32918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teammates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635527" y="4572000"/>
            <a:ext cx="6796735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200" dirty="0"/>
              <a:t>N Anjan Karthik Chandra, Jakka </a:t>
            </a:r>
            <a:r>
              <a:rPr lang="en-IN" sz="1200" dirty="0" err="1"/>
              <a:t>Rithusravya</a:t>
            </a:r>
            <a:r>
              <a:rPr lang="en-IN" sz="1200" dirty="0"/>
              <a:t> and Darshna Kumawat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collaboration across data prep, modeling, and evaluation.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454335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D0D18-EF8C-0B60-F43B-4468AC08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E879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2286000" y="-2743200"/>
            <a:ext cx="6400800" cy="6400800"/>
          </a:xfrm>
          <a:prstGeom prst="ellipse">
            <a:avLst/>
          </a:prstGeom>
          <a:solidFill>
            <a:srgbClr val="1626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F31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-486033" y="258318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10454335" y="6473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C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6B79FF-CD88-52B7-BB80-7E153D4B5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6419" y="294828"/>
            <a:ext cx="2865368" cy="510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2241</Words>
  <Application>Microsoft Office PowerPoint</Application>
  <PresentationFormat>Widescreen</PresentationFormat>
  <Paragraphs>427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Text-to-MongoDB Query Generation — Hybrid RAG + LoRA (Capstone Thesis)</dc:title>
  <dc:subject>PptxGenJS Presentation</dc:subject>
  <dc:creator>Group 2</dc:creator>
  <cp:lastModifiedBy>Darshna Kumawat</cp:lastModifiedBy>
  <cp:revision>114</cp:revision>
  <dcterms:created xsi:type="dcterms:W3CDTF">2026-08-28T09:49:42Z</dcterms:created>
  <dcterms:modified xsi:type="dcterms:W3CDTF">2026-08-29T09:05:09Z</dcterms:modified>
</cp:coreProperties>
</file>